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61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1C622D"/>
    <a:srgbClr val="335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hi K" userId="4951fcf783926025" providerId="LiveId" clId="{0DEC822B-3174-4301-BE81-F1A02E376482}"/>
    <pc:docChg chg="undo custSel modSld sldOrd">
      <pc:chgData name="Jyothi K" userId="4951fcf783926025" providerId="LiveId" clId="{0DEC822B-3174-4301-BE81-F1A02E376482}" dt="2025-11-13T03:41:13.652" v="62" actId="1076"/>
      <pc:docMkLst>
        <pc:docMk/>
      </pc:docMkLst>
      <pc:sldChg chg="ord">
        <pc:chgData name="Jyothi K" userId="4951fcf783926025" providerId="LiveId" clId="{0DEC822B-3174-4301-BE81-F1A02E376482}" dt="2025-11-13T02:12:38.049" v="15"/>
        <pc:sldMkLst>
          <pc:docMk/>
          <pc:sldMk cId="923185817" sldId="258"/>
        </pc:sldMkLst>
      </pc:sldChg>
      <pc:sldChg chg="addSp delSp modSp mod">
        <pc:chgData name="Jyothi K" userId="4951fcf783926025" providerId="LiveId" clId="{0DEC822B-3174-4301-BE81-F1A02E376482}" dt="2025-11-13T03:41:13.652" v="62" actId="1076"/>
        <pc:sldMkLst>
          <pc:docMk/>
          <pc:sldMk cId="3097329130" sldId="260"/>
        </pc:sldMkLst>
        <pc:spChg chg="mod">
          <ac:chgData name="Jyothi K" userId="4951fcf783926025" providerId="LiveId" clId="{0DEC822B-3174-4301-BE81-F1A02E376482}" dt="2025-11-12T18:23:57.663" v="13" actId="20577"/>
          <ac:spMkLst>
            <pc:docMk/>
            <pc:sldMk cId="3097329130" sldId="260"/>
            <ac:spMk id="9" creationId="{8FE53072-0D11-6F8D-77DB-7627C580CA76}"/>
          </ac:spMkLst>
        </pc:spChg>
        <pc:spChg chg="mod">
          <ac:chgData name="Jyothi K" userId="4951fcf783926025" providerId="LiveId" clId="{0DEC822B-3174-4301-BE81-F1A02E376482}" dt="2025-11-13T03:40:45.230" v="61" actId="1076"/>
          <ac:spMkLst>
            <pc:docMk/>
            <pc:sldMk cId="3097329130" sldId="260"/>
            <ac:spMk id="13" creationId="{D11B48A7-082F-DDCF-8CD6-8707FFEFA3EE}"/>
          </ac:spMkLst>
        </pc:spChg>
        <pc:spChg chg="mod">
          <ac:chgData name="Jyothi K" userId="4951fcf783926025" providerId="LiveId" clId="{0DEC822B-3174-4301-BE81-F1A02E376482}" dt="2025-11-13T03:41:13.652" v="62" actId="1076"/>
          <ac:spMkLst>
            <pc:docMk/>
            <pc:sldMk cId="3097329130" sldId="260"/>
            <ac:spMk id="14" creationId="{9DC2249E-8105-E21E-4866-9E1BE5FDE636}"/>
          </ac:spMkLst>
        </pc:spChg>
        <pc:picChg chg="mod">
          <ac:chgData name="Jyothi K" userId="4951fcf783926025" providerId="LiveId" clId="{0DEC822B-3174-4301-BE81-F1A02E376482}" dt="2025-11-13T03:40:04" v="58" actId="1076"/>
          <ac:picMkLst>
            <pc:docMk/>
            <pc:sldMk cId="3097329130" sldId="260"/>
            <ac:picMk id="2" creationId="{89BCB55F-6355-CBD9-9CDB-4245F9CF0E7B}"/>
          </ac:picMkLst>
        </pc:picChg>
        <pc:picChg chg="add mod">
          <ac:chgData name="Jyothi K" userId="4951fcf783926025" providerId="LiveId" clId="{0DEC822B-3174-4301-BE81-F1A02E376482}" dt="2025-11-13T03:38:11.227" v="19" actId="1076"/>
          <ac:picMkLst>
            <pc:docMk/>
            <pc:sldMk cId="3097329130" sldId="260"/>
            <ac:picMk id="5" creationId="{938A1A64-7992-24B0-8435-C110B69A882A}"/>
          </ac:picMkLst>
        </pc:picChg>
        <pc:picChg chg="del mod">
          <ac:chgData name="Jyothi K" userId="4951fcf783926025" providerId="LiveId" clId="{0DEC822B-3174-4301-BE81-F1A02E376482}" dt="2025-11-12T18:23:56.065" v="4" actId="22"/>
          <ac:picMkLst>
            <pc:docMk/>
            <pc:sldMk cId="3097329130" sldId="260"/>
            <ac:picMk id="19" creationId="{0E32BCD2-701B-1D95-9A5F-362170C55D4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01965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868599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94539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510575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225550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917098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242656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77688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449022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99204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238020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EFBE7D-DDA8-4E45-B1A5-45CE02CD913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BAA6838-D100-4F56-9681-47C1CDC46E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2847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ransition spd="slow">
    <p:wipe dir="d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93000">
              <a:schemeClr val="bg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77CD2BF-27E0-A42E-E9E0-8E4FAA3D7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0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75213"/>
      </p:ext>
    </p:extLst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93000">
              <a:schemeClr val="bg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29DC3-DD9B-8AB4-5DA5-C67049D2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erver with green lights&#10;&#10;AI-generated content may be incorrect.">
            <a:extLst>
              <a:ext uri="{FF2B5EF4-FFF2-40B4-BE49-F238E27FC236}">
                <a16:creationId xmlns:a16="http://schemas.microsoft.com/office/drawing/2014/main" id="{9C4FF05D-20B7-06D4-CBC7-E023105BC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0607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5083996-B713-2DE8-4B1F-78F0EFE08BCE}"/>
              </a:ext>
            </a:extLst>
          </p:cNvPr>
          <p:cNvSpPr/>
          <p:nvPr/>
        </p:nvSpPr>
        <p:spPr>
          <a:xfrm>
            <a:off x="0" y="5704579"/>
            <a:ext cx="12192000" cy="1271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F2599-D6FB-98A9-E3FD-069C8E167D94}"/>
              </a:ext>
            </a:extLst>
          </p:cNvPr>
          <p:cNvSpPr txBox="1"/>
          <p:nvPr/>
        </p:nvSpPr>
        <p:spPr>
          <a:xfrm>
            <a:off x="5373624" y="1060704"/>
            <a:ext cx="1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Day</a:t>
            </a:r>
            <a:r>
              <a:rPr lang="en-US" sz="32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 10</a:t>
            </a:r>
            <a:endParaRPr lang="en-IN" sz="2800" b="1" dirty="0">
              <a:solidFill>
                <a:srgbClr val="FFFF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3C5DB-2DF5-DD98-29E7-B0D7BA3D864E}"/>
              </a:ext>
            </a:extLst>
          </p:cNvPr>
          <p:cNvSpPr txBox="1"/>
          <p:nvPr/>
        </p:nvSpPr>
        <p:spPr>
          <a:xfrm>
            <a:off x="47625" y="5775266"/>
            <a:ext cx="12013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Daily Challenge:</a:t>
            </a:r>
          </a:p>
          <a:p>
            <a:pPr algn="ctr"/>
            <a:r>
              <a:rPr lang="en-US" b="1" dirty="0"/>
              <a:t>Question:  Create a service performance report showing service name, total patients admitted, and a performance category based on the following: 'Excellent' if avg satisfaction &gt;= 85, 'Good' if &gt;= 75, 'Fair' if &gt;= 65, otherwise 'Needs Improvement'. Order by average satisfaction descending.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5CD82F-F0E7-4702-2390-79496E77531A}"/>
              </a:ext>
            </a:extLst>
          </p:cNvPr>
          <p:cNvSpPr/>
          <p:nvPr/>
        </p:nvSpPr>
        <p:spPr>
          <a:xfrm>
            <a:off x="320034" y="1315802"/>
            <a:ext cx="5333301" cy="4225462"/>
          </a:xfrm>
          <a:prstGeom prst="roundRect">
            <a:avLst/>
          </a:prstGeom>
          <a:gradFill>
            <a:gsLst>
              <a:gs pos="96000">
                <a:schemeClr val="accent6">
                  <a:lumMod val="60000"/>
                  <a:lumOff val="40000"/>
                </a:schemeClr>
              </a:gs>
              <a:gs pos="89000">
                <a:schemeClr val="bg1"/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4F43C-7B05-938B-5D7C-338FEBC550B3}"/>
              </a:ext>
            </a:extLst>
          </p:cNvPr>
          <p:cNvSpPr txBox="1"/>
          <p:nvPr/>
        </p:nvSpPr>
        <p:spPr>
          <a:xfrm>
            <a:off x="812311" y="1502239"/>
            <a:ext cx="443634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r>
              <a:rPr lang="en-US" sz="1500" b="1" dirty="0"/>
              <a:t>SELECT </a:t>
            </a:r>
            <a:r>
              <a:rPr lang="en-US" sz="1500" b="1" dirty="0" err="1"/>
              <a:t>service,sum</a:t>
            </a:r>
            <a:r>
              <a:rPr lang="en-US" sz="1500" b="1" dirty="0"/>
              <a:t>(</a:t>
            </a:r>
            <a:r>
              <a:rPr lang="en-US" sz="1500" b="1" dirty="0" err="1"/>
              <a:t>patients_admitted</a:t>
            </a:r>
            <a:r>
              <a:rPr lang="en-US" sz="1500" b="1" dirty="0"/>
              <a:t>) as </a:t>
            </a:r>
            <a:r>
              <a:rPr lang="en-US" sz="1500" b="1" dirty="0" err="1"/>
              <a:t>admitted_patients</a:t>
            </a:r>
            <a:r>
              <a:rPr lang="en-US" sz="1500" b="1" dirty="0"/>
              <a:t>, avg(</a:t>
            </a:r>
            <a:r>
              <a:rPr lang="en-US" sz="1500" b="1" dirty="0" err="1"/>
              <a:t>patient_satisfaction</a:t>
            </a:r>
            <a:r>
              <a:rPr lang="en-US" sz="1500" b="1" dirty="0"/>
              <a:t>) as </a:t>
            </a:r>
            <a:r>
              <a:rPr lang="en-US" sz="1500" b="1" dirty="0" err="1"/>
              <a:t>avg_satisfaction</a:t>
            </a:r>
            <a:r>
              <a:rPr lang="en-US" sz="1500" b="1" dirty="0"/>
              <a:t>,</a:t>
            </a:r>
          </a:p>
          <a:p>
            <a:r>
              <a:rPr lang="en-US" sz="1500" b="1" dirty="0"/>
              <a:t>CASE     </a:t>
            </a:r>
          </a:p>
          <a:p>
            <a:r>
              <a:rPr lang="en-US" sz="1500" b="1" dirty="0"/>
              <a:t>    WHEN avg(</a:t>
            </a:r>
            <a:r>
              <a:rPr lang="en-US" sz="1500" b="1" dirty="0" err="1"/>
              <a:t>patient_satisfaction</a:t>
            </a:r>
            <a:r>
              <a:rPr lang="en-US" sz="1500" b="1" dirty="0"/>
              <a:t>) &gt;= 85 then  "EXCELLENT"    </a:t>
            </a:r>
          </a:p>
          <a:p>
            <a:r>
              <a:rPr lang="en-US" sz="1500" b="1" dirty="0"/>
              <a:t>    WHEN avg(</a:t>
            </a:r>
            <a:r>
              <a:rPr lang="en-US" sz="1500" b="1" dirty="0" err="1"/>
              <a:t>patient_satisfaction</a:t>
            </a:r>
            <a:r>
              <a:rPr lang="en-US" sz="1500" b="1" dirty="0"/>
              <a:t>) &gt;= 75 then   "GOOD"    </a:t>
            </a:r>
          </a:p>
          <a:p>
            <a:r>
              <a:rPr lang="en-US" sz="1500" b="1" dirty="0"/>
              <a:t>    WHEN avg(</a:t>
            </a:r>
            <a:r>
              <a:rPr lang="en-US" sz="1500" b="1" dirty="0" err="1"/>
              <a:t>patient_satisfaction</a:t>
            </a:r>
            <a:r>
              <a:rPr lang="en-US" sz="1500" b="1" dirty="0"/>
              <a:t>) &gt;= 65 then  "FAIR"    </a:t>
            </a:r>
          </a:p>
          <a:p>
            <a:r>
              <a:rPr lang="en-US" sz="1500" b="1" dirty="0"/>
              <a:t>ELSE "NEEDS IMPROVEMENT" END as </a:t>
            </a:r>
            <a:r>
              <a:rPr lang="en-US" sz="1500" b="1" dirty="0" err="1"/>
              <a:t>avg_satisfaction</a:t>
            </a:r>
            <a:endParaRPr lang="en-US" sz="1500" b="1" dirty="0"/>
          </a:p>
          <a:p>
            <a:r>
              <a:rPr lang="en-US" sz="1500" b="1" dirty="0"/>
              <a:t>FROM </a:t>
            </a:r>
            <a:r>
              <a:rPr lang="en-US" sz="1500" b="1" dirty="0" err="1"/>
              <a:t>services_weekly</a:t>
            </a:r>
            <a:endParaRPr lang="en-US" sz="1500" b="1" dirty="0"/>
          </a:p>
          <a:p>
            <a:r>
              <a:rPr lang="en-US" sz="1500" b="1" dirty="0"/>
              <a:t>GROUP BY service</a:t>
            </a:r>
          </a:p>
          <a:p>
            <a:r>
              <a:rPr lang="en-US" sz="1500" b="1" dirty="0"/>
              <a:t>ORDER BY </a:t>
            </a:r>
            <a:r>
              <a:rPr lang="en-US" sz="1500" b="1" dirty="0" err="1"/>
              <a:t>avg_satisfaction</a:t>
            </a:r>
            <a:r>
              <a:rPr lang="en-US" sz="1500" b="1" dirty="0"/>
              <a:t> desc;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314DCB-2E4E-F294-1841-6D52FED62F77}"/>
              </a:ext>
            </a:extLst>
          </p:cNvPr>
          <p:cNvSpPr txBox="1"/>
          <p:nvPr/>
        </p:nvSpPr>
        <p:spPr>
          <a:xfrm>
            <a:off x="5940567" y="1691147"/>
            <a:ext cx="104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7248BE-EA16-250F-C9CB-94AA44F60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666" y="2377440"/>
            <a:ext cx="5333299" cy="232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99894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93000">
              <a:schemeClr val="bg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50A53-2EFD-E9D2-261F-957909AA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omputer server with green lights&#10;&#10;AI-generated content may be incorrect.">
            <a:extLst>
              <a:ext uri="{FF2B5EF4-FFF2-40B4-BE49-F238E27FC236}">
                <a16:creationId xmlns:a16="http://schemas.microsoft.com/office/drawing/2014/main" id="{D30C1BD3-D228-CFE6-D3A3-F3E371065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06070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CC7DB06-D7D1-F7D6-99D3-4A7893DFDA5D}"/>
              </a:ext>
            </a:extLst>
          </p:cNvPr>
          <p:cNvSpPr/>
          <p:nvPr/>
        </p:nvSpPr>
        <p:spPr>
          <a:xfrm>
            <a:off x="0" y="5704579"/>
            <a:ext cx="12192000" cy="1271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7A3863-D6D4-C4DB-D02D-FB0FC42613FE}"/>
              </a:ext>
            </a:extLst>
          </p:cNvPr>
          <p:cNvSpPr txBox="1"/>
          <p:nvPr/>
        </p:nvSpPr>
        <p:spPr>
          <a:xfrm>
            <a:off x="5373624" y="1060704"/>
            <a:ext cx="1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Day</a:t>
            </a:r>
            <a:r>
              <a:rPr lang="en-US" sz="32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 10</a:t>
            </a:r>
            <a:endParaRPr lang="en-IN" sz="2800" b="1" dirty="0">
              <a:solidFill>
                <a:srgbClr val="FFFF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B237C6-DB60-F15B-BD06-EF198E8167C3}"/>
              </a:ext>
            </a:extLst>
          </p:cNvPr>
          <p:cNvSpPr txBox="1"/>
          <p:nvPr/>
        </p:nvSpPr>
        <p:spPr>
          <a:xfrm>
            <a:off x="47625" y="5775266"/>
            <a:ext cx="1201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Practice Question:</a:t>
            </a:r>
          </a:p>
          <a:p>
            <a:pPr algn="ctr"/>
            <a:r>
              <a:rPr lang="en-US" b="1" dirty="0"/>
              <a:t>1. </a:t>
            </a:r>
            <a:r>
              <a:rPr lang="en-US" b="1" dirty="0" err="1"/>
              <a:t>Categorise</a:t>
            </a:r>
            <a:r>
              <a:rPr lang="en-US" b="1" dirty="0"/>
              <a:t> patients as 'High', 'Medium', or 'Low' satisfaction based on their scores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244D42-3F11-51A5-7BEC-67F94A7F85D7}"/>
              </a:ext>
            </a:extLst>
          </p:cNvPr>
          <p:cNvSpPr/>
          <p:nvPr/>
        </p:nvSpPr>
        <p:spPr>
          <a:xfrm>
            <a:off x="320034" y="1626750"/>
            <a:ext cx="5333301" cy="4077829"/>
          </a:xfrm>
          <a:prstGeom prst="roundRect">
            <a:avLst/>
          </a:prstGeom>
          <a:gradFill>
            <a:gsLst>
              <a:gs pos="96000">
                <a:schemeClr val="accent6">
                  <a:lumMod val="60000"/>
                  <a:lumOff val="40000"/>
                </a:schemeClr>
              </a:gs>
              <a:gs pos="89000">
                <a:schemeClr val="bg1"/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1D5E1-228E-3DDE-EDCF-FC08F050200D}"/>
              </a:ext>
            </a:extLst>
          </p:cNvPr>
          <p:cNvSpPr txBox="1"/>
          <p:nvPr/>
        </p:nvSpPr>
        <p:spPr>
          <a:xfrm>
            <a:off x="916751" y="2396480"/>
            <a:ext cx="45970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r>
              <a:rPr lang="en-US" b="1" dirty="0"/>
              <a:t>SELECT </a:t>
            </a:r>
            <a:r>
              <a:rPr lang="en-US" b="1" dirty="0" err="1"/>
              <a:t>patient_id,name,satisfaction</a:t>
            </a:r>
            <a:r>
              <a:rPr lang="en-US" b="1" dirty="0"/>
              <a:t>,</a:t>
            </a:r>
          </a:p>
          <a:p>
            <a:r>
              <a:rPr lang="en-US" b="1" dirty="0"/>
              <a:t>CASE </a:t>
            </a:r>
          </a:p>
          <a:p>
            <a:r>
              <a:rPr lang="en-US" b="1" dirty="0"/>
              <a:t>WHEN satisfaction&gt;=90 then "HIGH"     </a:t>
            </a:r>
          </a:p>
          <a:p>
            <a:r>
              <a:rPr lang="en-US" b="1" dirty="0"/>
              <a:t>WHEN satisfaction&gt;=70 then "MEDIUM"     ELSE "LOW"     END as </a:t>
            </a:r>
            <a:r>
              <a:rPr lang="en-US" b="1" dirty="0" err="1"/>
              <a:t>Satisfaction_Category</a:t>
            </a:r>
            <a:endParaRPr lang="en-US" b="1" dirty="0"/>
          </a:p>
          <a:p>
            <a:r>
              <a:rPr lang="en-US" b="1" dirty="0"/>
              <a:t>FROM patients;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CF8CFA-F6F3-A270-5BBA-0B91268CC679}"/>
              </a:ext>
            </a:extLst>
          </p:cNvPr>
          <p:cNvSpPr txBox="1"/>
          <p:nvPr/>
        </p:nvSpPr>
        <p:spPr>
          <a:xfrm>
            <a:off x="5940567" y="1691147"/>
            <a:ext cx="104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RESULT:</a:t>
            </a:r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DE335EC-8BE1-A790-59CA-8EC2DD3E0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7" y="2131166"/>
            <a:ext cx="5241175" cy="326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51641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93000">
              <a:schemeClr val="bg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25D01-7102-D83B-B529-271BA8D4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erver with green lights&#10;&#10;AI-generated content may be incorrect.">
            <a:extLst>
              <a:ext uri="{FF2B5EF4-FFF2-40B4-BE49-F238E27FC236}">
                <a16:creationId xmlns:a16="http://schemas.microsoft.com/office/drawing/2014/main" id="{3471E38E-F9FC-C3EF-6087-D1A168BCC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0607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23524-5FF8-46FC-4076-919EC5576C23}"/>
              </a:ext>
            </a:extLst>
          </p:cNvPr>
          <p:cNvSpPr/>
          <p:nvPr/>
        </p:nvSpPr>
        <p:spPr>
          <a:xfrm>
            <a:off x="0" y="5704579"/>
            <a:ext cx="12192000" cy="1271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23E2C5-D8D0-B155-B63E-110542092F18}"/>
              </a:ext>
            </a:extLst>
          </p:cNvPr>
          <p:cNvSpPr txBox="1"/>
          <p:nvPr/>
        </p:nvSpPr>
        <p:spPr>
          <a:xfrm>
            <a:off x="5373624" y="1060704"/>
            <a:ext cx="1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Day</a:t>
            </a:r>
            <a:r>
              <a:rPr lang="en-US" sz="32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 10</a:t>
            </a:r>
            <a:endParaRPr lang="en-IN" sz="2800" b="1" dirty="0">
              <a:solidFill>
                <a:srgbClr val="FFFF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BF637-840B-9ECC-AF3C-91C0FE631740}"/>
              </a:ext>
            </a:extLst>
          </p:cNvPr>
          <p:cNvSpPr txBox="1"/>
          <p:nvPr/>
        </p:nvSpPr>
        <p:spPr>
          <a:xfrm>
            <a:off x="47625" y="5775266"/>
            <a:ext cx="12013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Practice Question:</a:t>
            </a:r>
          </a:p>
          <a:p>
            <a:pPr algn="ctr"/>
            <a:r>
              <a:rPr lang="en-US" b="1" dirty="0"/>
              <a:t>2. Label staff roles as 'Medical' or 'Support' based on role type.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F8D5E3-FE0D-BAE5-6F06-1D9D35B9EC7D}"/>
              </a:ext>
            </a:extLst>
          </p:cNvPr>
          <p:cNvSpPr/>
          <p:nvPr/>
        </p:nvSpPr>
        <p:spPr>
          <a:xfrm>
            <a:off x="320034" y="1626750"/>
            <a:ext cx="5333301" cy="4077829"/>
          </a:xfrm>
          <a:prstGeom prst="roundRect">
            <a:avLst/>
          </a:prstGeom>
          <a:gradFill>
            <a:gsLst>
              <a:gs pos="96000">
                <a:schemeClr val="accent6">
                  <a:lumMod val="60000"/>
                  <a:lumOff val="40000"/>
                </a:schemeClr>
              </a:gs>
              <a:gs pos="89000">
                <a:schemeClr val="bg1"/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D4F8A-2890-DEF3-8DA8-29BBF6F9CA4D}"/>
              </a:ext>
            </a:extLst>
          </p:cNvPr>
          <p:cNvSpPr txBox="1"/>
          <p:nvPr/>
        </p:nvSpPr>
        <p:spPr>
          <a:xfrm>
            <a:off x="770447" y="2258233"/>
            <a:ext cx="420389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US" b="1" dirty="0"/>
          </a:p>
          <a:p>
            <a:r>
              <a:rPr lang="en-US" sz="1600" b="1" dirty="0"/>
              <a:t>SELECT distinct </a:t>
            </a:r>
            <a:r>
              <a:rPr lang="en-US" sz="1600" b="1" dirty="0" err="1"/>
              <a:t>staff_name</a:t>
            </a:r>
            <a:r>
              <a:rPr lang="en-US" sz="1600" b="1" dirty="0"/>
              <a:t>,</a:t>
            </a:r>
          </a:p>
          <a:p>
            <a:r>
              <a:rPr lang="en-US" sz="1600" b="1" dirty="0"/>
              <a:t>CASE </a:t>
            </a:r>
          </a:p>
          <a:p>
            <a:r>
              <a:rPr lang="en-US" sz="1600" b="1" dirty="0"/>
              <a:t>  WHEN role="doctor" then "Medical"	 </a:t>
            </a:r>
          </a:p>
          <a:p>
            <a:r>
              <a:rPr lang="en-US" sz="1600" b="1" dirty="0"/>
              <a:t>  ELSE "Support"     END as </a:t>
            </a:r>
            <a:r>
              <a:rPr lang="en-US" sz="1600" b="1" dirty="0" err="1"/>
              <a:t>staff_role_type</a:t>
            </a:r>
            <a:endParaRPr lang="en-US" sz="1600" b="1" dirty="0"/>
          </a:p>
          <a:p>
            <a:r>
              <a:rPr lang="en-US" sz="1600" b="1" dirty="0"/>
              <a:t>FROM </a:t>
            </a:r>
            <a:r>
              <a:rPr lang="en-US" sz="1600" b="1" dirty="0" err="1"/>
              <a:t>staff_schedule</a:t>
            </a:r>
            <a:r>
              <a:rPr lang="en-US" sz="1600" b="1" dirty="0"/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A9DA4-0034-F8BE-8BE1-E44950096DC5}"/>
              </a:ext>
            </a:extLst>
          </p:cNvPr>
          <p:cNvSpPr txBox="1"/>
          <p:nvPr/>
        </p:nvSpPr>
        <p:spPr>
          <a:xfrm>
            <a:off x="5940567" y="1691147"/>
            <a:ext cx="104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RESULT: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6E3E45-C6F7-7DF0-990C-A0DF1A14A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75813"/>
            <a:ext cx="3165957" cy="364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85817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60000"/>
                <a:lumOff val="40000"/>
              </a:schemeClr>
            </a:gs>
            <a:gs pos="93000">
              <a:schemeClr val="bg1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435C8-CB92-A5BA-C6E3-7BEED3A2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erver with green lights&#10;&#10;AI-generated content may be incorrect.">
            <a:extLst>
              <a:ext uri="{FF2B5EF4-FFF2-40B4-BE49-F238E27FC236}">
                <a16:creationId xmlns:a16="http://schemas.microsoft.com/office/drawing/2014/main" id="{89BCB55F-6355-CBD9-9CDB-4245F9CF0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0607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5ED4F9-40BE-4F04-ADC1-C626FCBC9FF0}"/>
              </a:ext>
            </a:extLst>
          </p:cNvPr>
          <p:cNvSpPr/>
          <p:nvPr/>
        </p:nvSpPr>
        <p:spPr>
          <a:xfrm>
            <a:off x="0" y="5704579"/>
            <a:ext cx="12192000" cy="12710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FDFAD-2A4C-BC48-0A5A-E14722BB42C8}"/>
              </a:ext>
            </a:extLst>
          </p:cNvPr>
          <p:cNvSpPr txBox="1"/>
          <p:nvPr/>
        </p:nvSpPr>
        <p:spPr>
          <a:xfrm>
            <a:off x="5373624" y="1060704"/>
            <a:ext cx="1609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Day</a:t>
            </a:r>
            <a:r>
              <a:rPr lang="en-US" sz="3200" b="1" dirty="0">
                <a:solidFill>
                  <a:srgbClr val="FFFF00"/>
                </a:solidFill>
                <a:latin typeface="Bodoni MT Black" panose="02070A03080606020203" pitchFamily="18" charset="0"/>
              </a:rPr>
              <a:t> 10</a:t>
            </a:r>
            <a:endParaRPr lang="en-IN" sz="2800" b="1" dirty="0">
              <a:solidFill>
                <a:srgbClr val="FFFF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53072-0D11-6F8D-77DB-7627C580CA76}"/>
              </a:ext>
            </a:extLst>
          </p:cNvPr>
          <p:cNvSpPr txBox="1"/>
          <p:nvPr/>
        </p:nvSpPr>
        <p:spPr>
          <a:xfrm>
            <a:off x="47625" y="5775266"/>
            <a:ext cx="1201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 3. Create age groups for patients (0-18, 19-40, 41-65, 65+).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1B48A7-082F-DDCF-8CD6-8707FFEFA3EE}"/>
              </a:ext>
            </a:extLst>
          </p:cNvPr>
          <p:cNvSpPr/>
          <p:nvPr/>
        </p:nvSpPr>
        <p:spPr>
          <a:xfrm>
            <a:off x="493775" y="1471378"/>
            <a:ext cx="5333301" cy="4077829"/>
          </a:xfrm>
          <a:prstGeom prst="roundRect">
            <a:avLst/>
          </a:prstGeom>
          <a:gradFill>
            <a:gsLst>
              <a:gs pos="96000">
                <a:schemeClr val="accent6">
                  <a:lumMod val="60000"/>
                  <a:lumOff val="40000"/>
                </a:schemeClr>
              </a:gs>
              <a:gs pos="89000">
                <a:schemeClr val="bg1"/>
              </a:gs>
            </a:gsLst>
            <a:path path="shape">
              <a:fillToRect l="50000" t="50000" r="50000" b="5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C2249E-8105-E21E-4866-9E1BE5FDE636}"/>
              </a:ext>
            </a:extLst>
          </p:cNvPr>
          <p:cNvSpPr txBox="1"/>
          <p:nvPr/>
        </p:nvSpPr>
        <p:spPr>
          <a:xfrm>
            <a:off x="1173479" y="1645479"/>
            <a:ext cx="38313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US" b="1" dirty="0"/>
          </a:p>
          <a:p>
            <a:r>
              <a:rPr lang="en-US" b="1" dirty="0"/>
              <a:t>Select </a:t>
            </a:r>
            <a:r>
              <a:rPr lang="en-US" b="1" dirty="0" err="1"/>
              <a:t>name,age</a:t>
            </a:r>
            <a:r>
              <a:rPr lang="en-US" b="1" dirty="0"/>
              <a:t>,</a:t>
            </a:r>
          </a:p>
          <a:p>
            <a:r>
              <a:rPr lang="en-US" b="1" dirty="0"/>
              <a:t>CASE </a:t>
            </a:r>
          </a:p>
          <a:p>
            <a:r>
              <a:rPr lang="en-US" b="1" dirty="0"/>
              <a:t>WHEN age between 0 and 18 then "</a:t>
            </a:r>
            <a:r>
              <a:rPr lang="en-US" b="1" dirty="0" err="1"/>
              <a:t>Childreen</a:t>
            </a:r>
            <a:r>
              <a:rPr lang="en-US" b="1" dirty="0"/>
              <a:t>"     </a:t>
            </a:r>
          </a:p>
          <a:p>
            <a:r>
              <a:rPr lang="en-US" b="1" dirty="0"/>
              <a:t>WHEN age between 19 and 40 then "Young Adult"     </a:t>
            </a:r>
          </a:p>
          <a:p>
            <a:r>
              <a:rPr lang="en-US" b="1" dirty="0"/>
              <a:t>WHEN age between 41 and 65 then "Middle-aged Adult"     </a:t>
            </a:r>
          </a:p>
          <a:p>
            <a:r>
              <a:rPr lang="en-US" b="1" dirty="0"/>
              <a:t>ELSE "Senior"     </a:t>
            </a:r>
          </a:p>
          <a:p>
            <a:r>
              <a:rPr lang="en-US" b="1" dirty="0"/>
              <a:t>END as </a:t>
            </a:r>
            <a:r>
              <a:rPr lang="en-US" b="1" dirty="0" err="1"/>
              <a:t>age_category</a:t>
            </a:r>
            <a:endParaRPr lang="en-US" b="1" dirty="0"/>
          </a:p>
          <a:p>
            <a:r>
              <a:rPr lang="en-US" b="1" dirty="0"/>
              <a:t>FROM patients;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72DD0E-E1ED-7EE7-6FF5-BD89808B56E2}"/>
              </a:ext>
            </a:extLst>
          </p:cNvPr>
          <p:cNvSpPr txBox="1"/>
          <p:nvPr/>
        </p:nvSpPr>
        <p:spPr>
          <a:xfrm>
            <a:off x="5940567" y="1691147"/>
            <a:ext cx="104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RESULT: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A1A64-7992-24B0-8435-C110B69A8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496" y="1851460"/>
            <a:ext cx="3445813" cy="369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29130"/>
      </p:ext>
    </p:extLst>
  </p:cSld>
  <p:clrMapOvr>
    <a:masterClrMapping/>
  </p:clrMapOvr>
  <p:transition spd="slow">
    <p:wipe dir="d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5633</TotalTime>
  <Words>353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Bodoni MT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Jyothi K</dc:creator>
  <cp:lastModifiedBy>Jyothi K</cp:lastModifiedBy>
  <cp:revision>3</cp:revision>
  <dcterms:created xsi:type="dcterms:W3CDTF">2025-11-05T05:53:51Z</dcterms:created>
  <dcterms:modified xsi:type="dcterms:W3CDTF">2025-11-13T03:41:23Z</dcterms:modified>
</cp:coreProperties>
</file>